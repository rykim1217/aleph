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01a22344484b5d" /><Relationship Type="http://schemas.openxmlformats.org/officeDocument/2006/relationships/extended-properties" Target="/docProps/app.xml" Id="Rc43c75627cfe4bd3" /><Relationship Type="http://schemas.openxmlformats.org/officeDocument/2006/relationships/officeDocument" Target="/ppt/presentation.xml" Id="R19138a31d369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4a5c749164acf"/>
  </p:sldMasterIdLst>
  <p:notesMasterIdLst>
    <p:notesMasterId xmlns:r="http://schemas.openxmlformats.org/officeDocument/2006/relationships" r:id="Rb70d5f3297234fff"/>
  </p:notesMasterIdLst>
  <p:sldIdLst>
    <p:sldId xmlns:r="http://schemas.openxmlformats.org/officeDocument/2006/relationships" id="256" r:id="R3666534a5c834a19"/>
    <p:sldId xmlns:r="http://schemas.openxmlformats.org/officeDocument/2006/relationships" id="257" r:id="R08fa775a180049bb"/>
    <p:sldId xmlns:r="http://schemas.openxmlformats.org/officeDocument/2006/relationships" id="258" r:id="R681c4949ba5b480b"/>
    <p:sldId xmlns:r="http://schemas.openxmlformats.org/officeDocument/2006/relationships" id="259" r:id="R26a944ef9cf54862"/>
    <p:sldId xmlns:r="http://schemas.openxmlformats.org/officeDocument/2006/relationships" id="260" r:id="Rf630540b4bcc44ed"/>
    <p:sldId xmlns:r="http://schemas.openxmlformats.org/officeDocument/2006/relationships" id="261" r:id="Re1a5f4a64e1a4096"/>
    <p:sldId xmlns:r="http://schemas.openxmlformats.org/officeDocument/2006/relationships" id="262" r:id="R491cf3e70ca147e4"/>
    <p:sldId xmlns:r="http://schemas.openxmlformats.org/officeDocument/2006/relationships" id="263" r:id="R3405ac8e0f184e74"/>
    <p:sldId xmlns:r="http://schemas.openxmlformats.org/officeDocument/2006/relationships" id="264" r:id="R835a264064564372"/>
    <p:sldId xmlns:r="http://schemas.openxmlformats.org/officeDocument/2006/relationships" id="265" r:id="Rca51892e443d47c1"/>
    <p:sldId xmlns:r="http://schemas.openxmlformats.org/officeDocument/2006/relationships" id="266" r:id="R54eac0ed618c48d9"/>
    <p:sldId xmlns:r="http://schemas.openxmlformats.org/officeDocument/2006/relationships" id="267" r:id="Rbd1e6147e2ed41ab"/>
    <p:sldId xmlns:r="http://schemas.openxmlformats.org/officeDocument/2006/relationships" id="268" r:id="R1dae888db1f543df"/>
    <p:sldId xmlns:r="http://schemas.openxmlformats.org/officeDocument/2006/relationships" id="269" r:id="Ra446addbd9484127"/>
    <p:sldId xmlns:r="http://schemas.openxmlformats.org/officeDocument/2006/relationships" id="270" r:id="R81073de4593b4826"/>
    <p:sldId xmlns:r="http://schemas.openxmlformats.org/officeDocument/2006/relationships" id="271" r:id="R14049d5d8e084874"/>
    <p:sldId xmlns:r="http://schemas.openxmlformats.org/officeDocument/2006/relationships" id="272" r:id="Raff970bb95e044bc"/>
    <p:sldId xmlns:r="http://schemas.openxmlformats.org/officeDocument/2006/relationships" id="273" r:id="R6c05e63a791b4d4b"/>
    <p:sldId xmlns:r="http://schemas.openxmlformats.org/officeDocument/2006/relationships" id="274" r:id="R00f6a2f54bd74dd3"/>
    <p:sldId xmlns:r="http://schemas.openxmlformats.org/officeDocument/2006/relationships" id="275" r:id="R73cdd226aaa341d4"/>
    <p:sldId xmlns:r="http://schemas.openxmlformats.org/officeDocument/2006/relationships" id="276" r:id="R8cb0b1d680574df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909ff9f64f4c36" /><Relationship Type="http://schemas.openxmlformats.org/officeDocument/2006/relationships/slideMaster" Target="/ppt/slideMasters/slideMaster1.xml" Id="Rbcd4a5c749164acf" /><Relationship Type="http://schemas.openxmlformats.org/officeDocument/2006/relationships/notesMaster" Target="/ppt/notesMasters/notesMaster1.xml" Id="Rb70d5f3297234fff" /><Relationship Type="http://schemas.openxmlformats.org/officeDocument/2006/relationships/presProps" Target="/ppt/presProps.xml" Id="R8b9e4d24858747fd" /><Relationship Type="http://schemas.openxmlformats.org/officeDocument/2006/relationships/tableStyles" Target="/ppt/tableStyles.xml" Id="Rfd2d5d267c7d4ad2" /><Relationship Type="http://schemas.openxmlformats.org/officeDocument/2006/relationships/slide" Target="/ppt/slides/slide1.xml" Id="R3666534a5c834a19" /><Relationship Type="http://schemas.openxmlformats.org/officeDocument/2006/relationships/slide" Target="/ppt/slides/slide2.xml" Id="R08fa775a180049bb" /><Relationship Type="http://schemas.openxmlformats.org/officeDocument/2006/relationships/slide" Target="/ppt/slides/slide3.xml" Id="R681c4949ba5b480b" /><Relationship Type="http://schemas.openxmlformats.org/officeDocument/2006/relationships/slide" Target="/ppt/slides/slide4.xml" Id="R26a944ef9cf54862" /><Relationship Type="http://schemas.openxmlformats.org/officeDocument/2006/relationships/slide" Target="/ppt/slides/slide5.xml" Id="Rf630540b4bcc44ed" /><Relationship Type="http://schemas.openxmlformats.org/officeDocument/2006/relationships/slide" Target="/ppt/slides/slide6.xml" Id="Re1a5f4a64e1a4096" /><Relationship Type="http://schemas.openxmlformats.org/officeDocument/2006/relationships/slide" Target="/ppt/slides/slide7.xml" Id="R491cf3e70ca147e4" /><Relationship Type="http://schemas.openxmlformats.org/officeDocument/2006/relationships/slide" Target="/ppt/slides/slide8.xml" Id="R3405ac8e0f184e74" /><Relationship Type="http://schemas.openxmlformats.org/officeDocument/2006/relationships/slide" Target="/ppt/slides/slide9.xml" Id="R835a264064564372" /><Relationship Type="http://schemas.openxmlformats.org/officeDocument/2006/relationships/slide" Target="/ppt/slides/slide10.xml" Id="Rca51892e443d47c1" /><Relationship Type="http://schemas.openxmlformats.org/officeDocument/2006/relationships/slide" Target="/ppt/slides/slide11.xml" Id="R54eac0ed618c48d9" /><Relationship Type="http://schemas.openxmlformats.org/officeDocument/2006/relationships/slide" Target="/ppt/slides/slide12.xml" Id="Rbd1e6147e2ed41ab" /><Relationship Type="http://schemas.openxmlformats.org/officeDocument/2006/relationships/slide" Target="/ppt/slides/slide13.xml" Id="R1dae888db1f543df" /><Relationship Type="http://schemas.openxmlformats.org/officeDocument/2006/relationships/slide" Target="/ppt/slides/slide14.xml" Id="Ra446addbd9484127" /><Relationship Type="http://schemas.openxmlformats.org/officeDocument/2006/relationships/slide" Target="/ppt/slides/slide15.xml" Id="R81073de4593b4826" /><Relationship Type="http://schemas.openxmlformats.org/officeDocument/2006/relationships/slide" Target="/ppt/slides/slide16.xml" Id="R14049d5d8e084874" /><Relationship Type="http://schemas.openxmlformats.org/officeDocument/2006/relationships/slide" Target="/ppt/slides/slide17.xml" Id="Raff970bb95e044bc" /><Relationship Type="http://schemas.openxmlformats.org/officeDocument/2006/relationships/slide" Target="/ppt/slides/slide18.xml" Id="R6c05e63a791b4d4b" /><Relationship Type="http://schemas.openxmlformats.org/officeDocument/2006/relationships/slide" Target="/ppt/slides/slide19.xml" Id="R00f6a2f54bd74dd3" /><Relationship Type="http://schemas.openxmlformats.org/officeDocument/2006/relationships/slide" Target="/ppt/slides/slide20.xml" Id="R73cdd226aaa341d4" /><Relationship Type="http://schemas.openxmlformats.org/officeDocument/2006/relationships/slide" Target="/ppt/slides/slide21.xml" Id="R8cb0b1d68057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287ced844e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373e1485e4da4" /><Relationship Type="http://schemas.openxmlformats.org/officeDocument/2006/relationships/notesMaster" Target="/ppt/notesMasters/notesMaster1.xml" Id="Rf4636fefe3b44e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b1097be564fec" /><Relationship Type="http://schemas.openxmlformats.org/officeDocument/2006/relationships/notesMaster" Target="/ppt/notesMasters/notesMaster1.xml" Id="R827d47672b6546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338a2ab504f47" /><Relationship Type="http://schemas.openxmlformats.org/officeDocument/2006/relationships/notesMaster" Target="/ppt/notesMasters/notesMaster1.xml" Id="R009a80c5e7464b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12c3edbfb4d77" /><Relationship Type="http://schemas.openxmlformats.org/officeDocument/2006/relationships/notesMaster" Target="/ppt/notesMasters/notesMaster1.xml" Id="Rdc793e849030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a0335df8d94762" /><Relationship Type="http://schemas.openxmlformats.org/officeDocument/2006/relationships/notesMaster" Target="/ppt/notesMasters/notesMaster1.xml" Id="Rebaea91221934e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89acf1f8b446b" /><Relationship Type="http://schemas.openxmlformats.org/officeDocument/2006/relationships/notesMaster" Target="/ppt/notesMasters/notesMaster1.xml" Id="R110f53f8fd704c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84fbdfb4314310" /><Relationship Type="http://schemas.openxmlformats.org/officeDocument/2006/relationships/notesMaster" Target="/ppt/notesMasters/notesMaster1.xml" Id="R5edf9ebf665d4c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1a183e267b4b62" /><Relationship Type="http://schemas.openxmlformats.org/officeDocument/2006/relationships/notesMaster" Target="/ppt/notesMasters/notesMaster1.xml" Id="Ra3b6e36998c44e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a4912e24894db3" /><Relationship Type="http://schemas.openxmlformats.org/officeDocument/2006/relationships/notesMaster" Target="/ppt/notesMasters/notesMaster1.xml" Id="R8770a5a5b8a74a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2c3b6737604792" /><Relationship Type="http://schemas.openxmlformats.org/officeDocument/2006/relationships/notesMaster" Target="/ppt/notesMasters/notesMaster1.xml" Id="R877d7954a6be43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0d11413be8434f" /><Relationship Type="http://schemas.openxmlformats.org/officeDocument/2006/relationships/notesMaster" Target="/ppt/notesMasters/notesMaster1.xml" Id="Rc3b7f2589b5049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0045f4161e4cfe" /><Relationship Type="http://schemas.openxmlformats.org/officeDocument/2006/relationships/notesMaster" Target="/ppt/notesMasters/notesMaster1.xml" Id="Rb2504045022f46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1d904d0d14449" /><Relationship Type="http://schemas.openxmlformats.org/officeDocument/2006/relationships/notesMaster" Target="/ppt/notesMasters/notesMaster1.xml" Id="R51c30d84fbba41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8e103150a24b35" /><Relationship Type="http://schemas.openxmlformats.org/officeDocument/2006/relationships/notesMaster" Target="/ppt/notesMasters/notesMaster1.xml" Id="R36e6f2f704b044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04fb4bcdc5468b" /><Relationship Type="http://schemas.openxmlformats.org/officeDocument/2006/relationships/notesMaster" Target="/ppt/notesMasters/notesMaster1.xml" Id="R4fd93663bab041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c62f86b1a54a7b" /><Relationship Type="http://schemas.openxmlformats.org/officeDocument/2006/relationships/notesMaster" Target="/ppt/notesMasters/notesMaster1.xml" Id="Rcabf48a783424e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4073f8dfc94c0a" /><Relationship Type="http://schemas.openxmlformats.org/officeDocument/2006/relationships/notesMaster" Target="/ppt/notesMasters/notesMaster1.xml" Id="Rf97a64b16b0e43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6b777b297044c7" /><Relationship Type="http://schemas.openxmlformats.org/officeDocument/2006/relationships/notesMaster" Target="/ppt/notesMasters/notesMaster1.xml" Id="Ref22d230732d49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9fdf413c86451c" /><Relationship Type="http://schemas.openxmlformats.org/officeDocument/2006/relationships/notesMaster" Target="/ppt/notesMasters/notesMaster1.xml" Id="R7737ee84652044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58a4d99787467a" /><Relationship Type="http://schemas.openxmlformats.org/officeDocument/2006/relationships/notesMaster" Target="/ppt/notesMasters/notesMaster1.xml" Id="R16eb1c0ebbf24f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8c05e46dc243c6" /><Relationship Type="http://schemas.openxmlformats.org/officeDocument/2006/relationships/notesMaster" Target="/ppt/notesMasters/notesMaster1.xml" Id="Rf1e5ad8a2e124a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화면은 사용자 허용을 받은 실제 로컬 학습 기록이며 이메일과 인증 정보는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프로젝트 README.md와 src 모듈. 2026-10-11 코드 및 테스트 결과 기준.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4c50f3a874e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214f10d824b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6c85214f641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08404f4bc4e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dc971ec8340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a93bf2ae0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32A663-7E86-4529-A96C-5B1E695BC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265ACC-0241-441B-B7CE-BE8371C321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AD2873-DECE-4F8D-8D36-6C375A2F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4C5AE8-D72E-49F7-8C5E-60F16EA42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FB4131-8758-410D-B538-52E65B648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B2EA21-3BE2-4E9C-BC92-E0CB3B14A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E5248D-95C2-48E3-8782-67980A93A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4BE0E4-54C8-4553-8621-4AFF3CB9F5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F6827B-9486-40B6-AF89-05982DBC7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56E2F4-A828-4AB1-9517-44FC85022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8e227c676241d6" /><Relationship Type="http://schemas.openxmlformats.org/officeDocument/2006/relationships/slideLayout" Target="/ppt/slideLayouts/slideLayout1.xml" Id="Rda6f24655d2744e6" /><Relationship Type="http://schemas.openxmlformats.org/officeDocument/2006/relationships/slideLayout" Target="/ppt/slideLayouts/slideLayout2.xml" Id="R759dc50b8dcb48e2" /><Relationship Type="http://schemas.openxmlformats.org/officeDocument/2006/relationships/slideLayout" Target="/ppt/slideLayouts/slideLayout3.xml" Id="R6ef9d83992554090" /><Relationship Type="http://schemas.openxmlformats.org/officeDocument/2006/relationships/slideLayout" Target="/ppt/slideLayouts/slideLayout4.xml" Id="R60db0b6b191d4a3d" /><Relationship Type="http://schemas.openxmlformats.org/officeDocument/2006/relationships/slideLayout" Target="/ppt/slideLayouts/slideLayout5.xml" Id="R6022c6e073c040b1" /><Relationship Type="http://schemas.openxmlformats.org/officeDocument/2006/relationships/slideLayout" Target="/ppt/slideLayouts/slideLayout6.xml" Id="R4cf1a6cb290741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f24655d2744e6"/>
    <p:sldLayoutId xmlns:r="http://schemas.openxmlformats.org/officeDocument/2006/relationships" id="2147483650" r:id="R759dc50b8dcb48e2"/>
    <p:sldLayoutId xmlns:r="http://schemas.openxmlformats.org/officeDocument/2006/relationships" id="2147483651" r:id="R6ef9d83992554090"/>
    <p:sldLayoutId xmlns:r="http://schemas.openxmlformats.org/officeDocument/2006/relationships" id="2147483652" r:id="R60db0b6b191d4a3d"/>
    <p:sldLayoutId xmlns:r="http://schemas.openxmlformats.org/officeDocument/2006/relationships" id="2147483653" r:id="R6022c6e073c040b1"/>
    <p:sldLayoutId xmlns:r="http://schemas.openxmlformats.org/officeDocument/2006/relationships" id="2147483654" r:id="R4cf1a6cb2907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7388a72ab4453" /><Relationship Type="http://schemas.openxmlformats.org/officeDocument/2006/relationships/notesSlide" Target="/ppt/notesSlides/notesSlide1.xml" Id="R983b0026d93d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9394211d642d0" /><Relationship Type="http://schemas.openxmlformats.org/officeDocument/2006/relationships/notesSlide" Target="/ppt/notesSlides/notesSlide2.xml" Id="R36528ae8ab3a41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375dbebf24df7" /><Relationship Type="http://schemas.openxmlformats.org/officeDocument/2006/relationships/notesSlide" Target="/ppt/notesSlides/notesSlide3.xml" Id="R8377d682888f49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475fbff214472" /><Relationship Type="http://schemas.openxmlformats.org/officeDocument/2006/relationships/image" Target="/ppt/media/image.jpeg" Id="Rece6085bd2824e10" /><Relationship Type="http://schemas.openxmlformats.org/officeDocument/2006/relationships/notesSlide" Target="/ppt/notesSlides/notesSlide4.xml" Id="R7b3ea24201c54a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48e40b8ec49bb" /><Relationship Type="http://schemas.openxmlformats.org/officeDocument/2006/relationships/image" Target="/ppt/media/image2.jpeg" Id="R11778e3362d34841" /><Relationship Type="http://schemas.openxmlformats.org/officeDocument/2006/relationships/notesSlide" Target="/ppt/notesSlides/notesSlide5.xml" Id="R428ad7cf5b2f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3d8f67cd3464d" /><Relationship Type="http://schemas.openxmlformats.org/officeDocument/2006/relationships/image" Target="/ppt/media/image3.jpeg" Id="R708b9de201fe4253" /><Relationship Type="http://schemas.openxmlformats.org/officeDocument/2006/relationships/notesSlide" Target="/ppt/notesSlides/notesSlide6.xml" Id="Rc14c32364c3c43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e2f3a57a44d1e" /><Relationship Type="http://schemas.openxmlformats.org/officeDocument/2006/relationships/notesSlide" Target="/ppt/notesSlides/notesSlide7.xml" Id="Ra66a622d67584a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d2d348d3b4144" /><Relationship Type="http://schemas.openxmlformats.org/officeDocument/2006/relationships/image" Target="/ppt/media/image4.jpeg" Id="R027c94dd75c94765" /><Relationship Type="http://schemas.openxmlformats.org/officeDocument/2006/relationships/notesSlide" Target="/ppt/notesSlides/notesSlide8.xml" Id="R90ec4e6f11ca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874f618f646a6" /><Relationship Type="http://schemas.openxmlformats.org/officeDocument/2006/relationships/notesSlide" Target="/ppt/notesSlides/notesSlide9.xml" Id="Rcb07d77eff22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77fe5aaef4190" /><Relationship Type="http://schemas.openxmlformats.org/officeDocument/2006/relationships/notesSlide" Target="/ppt/notesSlides/notesSlide10.xml" Id="R3db16dda08a14c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04412ed8b4475" /><Relationship Type="http://schemas.openxmlformats.org/officeDocument/2006/relationships/image" Target="/ppt/media/image5.jpeg" Id="Re60c6e54b93b4b6b" /><Relationship Type="http://schemas.openxmlformats.org/officeDocument/2006/relationships/notesSlide" Target="/ppt/notesSlides/notesSlide11.xml" Id="Rc02938aa16c243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bcc94f6d04fbe" /><Relationship Type="http://schemas.openxmlformats.org/officeDocument/2006/relationships/notesSlide" Target="/ppt/notesSlides/notesSlide12.xml" Id="R79d6a79534184a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862bd90f1491b" /><Relationship Type="http://schemas.openxmlformats.org/officeDocument/2006/relationships/image" Target="/ppt/media/image6.jpeg" Id="Re40910837b0d4442" /><Relationship Type="http://schemas.openxmlformats.org/officeDocument/2006/relationships/notesSlide" Target="/ppt/notesSlides/notesSlide13.xml" Id="R7c3b466f509f40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8a647cdc04dd2" /><Relationship Type="http://schemas.openxmlformats.org/officeDocument/2006/relationships/image" Target="/ppt/media/image7.jpeg" Id="R6402aad4e8934a2b" /><Relationship Type="http://schemas.openxmlformats.org/officeDocument/2006/relationships/notesSlide" Target="/ppt/notesSlides/notesSlide14.xml" Id="R417659f1f98841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fc6ed3f414839" /><Relationship Type="http://schemas.openxmlformats.org/officeDocument/2006/relationships/notesSlide" Target="/ppt/notesSlides/notesSlide15.xml" Id="R312fd5f3bcfe47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2b4ee37aa422d" /><Relationship Type="http://schemas.openxmlformats.org/officeDocument/2006/relationships/notesSlide" Target="/ppt/notesSlides/notesSlide16.xml" Id="R3890b1cdcfff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23f5b01cf4d6f" /><Relationship Type="http://schemas.openxmlformats.org/officeDocument/2006/relationships/notesSlide" Target="/ppt/notesSlides/notesSlide17.xml" Id="R59268d89b6c040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c1560dbe84721" /><Relationship Type="http://schemas.openxmlformats.org/officeDocument/2006/relationships/image" Target="/ppt/media/image8.jpeg" Id="Ref61e9c012aa4a2b" /><Relationship Type="http://schemas.openxmlformats.org/officeDocument/2006/relationships/notesSlide" Target="/ppt/notesSlides/notesSlide18.xml" Id="R62a933c9d42f41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ef1e774d24e45" /><Relationship Type="http://schemas.openxmlformats.org/officeDocument/2006/relationships/notesSlide" Target="/ppt/notesSlides/notesSlide19.xml" Id="R80983325850048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f9cfdc51b4d66" /><Relationship Type="http://schemas.openxmlformats.org/officeDocument/2006/relationships/notesSlide" Target="/ppt/notesSlides/notesSlide20.xml" Id="R25b6d3bcd72f4e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263a77213400d" /><Relationship Type="http://schemas.openxmlformats.org/officeDocument/2006/relationships/notesSlide" Target="/ppt/notesSlides/notesSlide21.xml" Id="R4a447216f750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26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AA99B-7114-4224-83C9-69C2013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C324B-963F-4AB8-9A0E-B5BB357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2C0D8-0411-4766-95D7-261470BF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314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F242-B122-4824-9137-9292365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1314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rPr>
              <a:t>자격증 학습 일정 관리 웹앱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CF797-2A08-4473-96E9-9ED06567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314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시험일까지 남은 학습량을 날짜별 계획으로 연결하고,</a:t>
            </a:r>
          </a:p>
          <a:p xmlns:a="http://schemas.openxmlformats.org/drawingml/2006/main">
            <a:pPr>
              <a:defRPr sz="24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매일의 완료 기록을 한곳에서 관리합니다.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6DBD-7348-459C-A582-1C82117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43800"/>
            <a:ext cx="1314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프로젝트 제출자료     2026.10</a:t>
            </a:r>
          </a:p>
        </p:txBody>
      </p:sp>
    </p:spTree>
    <p:extLst>
      <p:ext uri="{BB962C8B-B14F-4D97-AF65-F5344CB8AC3E}">
        <p14:creationId xmlns:p14="http://schemas.microsoft.com/office/powerpoint/2010/main" val="140499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62422-B8D1-4784-9521-FAE2ABC4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11912-6155-4D03-8E33-BAE0BE83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A57BF-8F78-48E2-A97C-A0793BF0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프로젝트 배경과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C6180-0DAD-41FA-BA68-7B8353FA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계획을 세우는 데 드는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3444C-514A-4308-B96F-651B22A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강의, 교재와 기출문제의 양이 서로 다르고 매일 공부할 수 있는 시간도 달라집니다. 목차를 날짜에 직접 나누면 일정이 바뀔 때마다 다시 계산해야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7A487-AC6D-49A3-9E2E-37BEE04C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실제 사용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B7F71-314E-4D1C-95FE-9B57B76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집과 학원에서 같은 학습 기록을 확인하고 싶었습니다. PC를 중심으로 사용하면서 태블릿과 휴대폰에서도 오늘의 할 일을 확인할 수 있도록 구성했습니다.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7F81B-F462-4E9E-BB9C-FCDD8E8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PACE의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0095C-2D60-474A-AEC4-A7B6B9C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학습 자료 등록부터 가능시간 설정, 일정 분배와 완료 기록까지 이어지는 흐름을 제공합니다. 기록 보존과 명시적인 사용자 확인을 중요한 기준으로 삼았습니다.</a:t>
            </a:r>
          </a:p>
        </p:txBody>
      </p:sp>
    </p:spTree>
    <p:extLst>
      <p:ext uri="{BB962C8B-B14F-4D97-AF65-F5344CB8AC3E}">
        <p14:creationId xmlns:p14="http://schemas.microsoft.com/office/powerpoint/2010/main" val="2113988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83059-ED61-4F63-AC32-67E8E3B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7EBBE-D67D-4CF3-85E0-3A1B5051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32BD5-7A0E-4EFC-A7BA-1BFE1F87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사용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574F-D8F9-4B4A-B97D-83FDEDF2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01  자격증과 학습 자료 등록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A0321-BE67-4E6D-96BE-84BC3CB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자격증과 시험일을 설정하고 강의 목차, 교재 소단원 또는 기출문제 회차를 학습 항목으로 등록합니다. 분석 결과는 등록 전에 수정할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3DC26-E111-4588-A6F6-2708252E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02  공부 가능한 날짜 설정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15777-3C4C-4DC4-A2AF-9C4D3079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평일·주말 또는 요일별 시간을 입력하고 휴식일과 날짜별 예외를 지정합니다. 강의 배속도 예상 학습 시간에 반영합니다.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B25D6-9B71-4AE9-9BD7-30F7A135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03  계획 검토와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20967-787F-4513-B277-F6F2CD96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자동 분배 결과를 미리보기에서 확인한 뒤 적용합니다. 이후 날짜별 목록에서 완료를 체크하고 필요하면 날짜를 수동으로 옮깁니다.</a:t>
            </a:r>
          </a:p>
        </p:txBody>
      </p:sp>
    </p:spTree>
    <p:extLst>
      <p:ext uri="{BB962C8B-B14F-4D97-AF65-F5344CB8AC3E}">
        <p14:creationId xmlns:p14="http://schemas.microsoft.com/office/powerpoint/2010/main" val="380169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BA441-83A4-41E8-892A-CA52C037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0178-376A-41B8-B3B6-EA368A2D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96729-21FE-4C80-94D0-710208A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월간 달력과 오늘의 학습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B613-C0A1-4BC5-A8EA-12882E33D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6085bd2824e10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5EAC3-021F-45B3-A8D5-09D89FB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월간 달력에는 학습 항목의 분류 색상과 목표·시험·개인 일정·휴식일을 함께 표시합니다. 전체 일정 또는 자격증별로 필터링할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사이드바에서 오늘의 학습 가능시간, 배정 항목과 총 예정시간을 확인합니다. 완료 체크는 진도에 반영됩니다. 날짜를 선택하면 해당 날짜의 상세 학습 기록을 볼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620B2-B039-4335-8D77-E96EBAA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185480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8F373-901C-4450-9E7F-711150E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B200-7EC8-4347-87AF-09A8E01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C9B7-FA9E-422C-B7F5-F341123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학습 항목 등록과 관리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6518D-20D8-498C-B061-266588E18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78e3362d34841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F206A-E1D5-4834-A820-E37E6AA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강의 텍스트를 붙여넣으면 번호, 제목과 영상 길이를 분석합니다. 교재 목차, 기출문제 연도·회차, 모의고사 범위 등록도 지원합니다.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미리보기에서 내용을 검토한 후 선택 항목만 등록합니다. 등록 후에는 제목·분류·시간을 수정하고 선택 삭제할 수 있습니다. 분류별 색상과 순서도 관리합니다.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EEC3-422A-48A9-A7D9-56EF933C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222123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B50A-5B1A-462F-A024-8D1D068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09813-18AB-4782-B452-D6DEE984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3A454-72F4-49F1-84E9-976D91D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강의 텍스트 분석과 등록 미리보기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0752E-C088-4750-B0DA-905AB8332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b9de201fe4253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09320-10E2-40A2-913C-63013FB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예시 목차 5개를 입력해 번호, 강의명과 시간을 분석한 화면입니다. 원문은 왼쪽에, 등록 전 수정 가능한 결과는 아래에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전체 선택·해제와 개별 체크로 등록 대상을 정합니다. 텍스트 분석만으로는 저장하지 않습니다. 캡처에는 더미 자료를 사용했으며 실제 등록은 실행하지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E8237-6AD6-40AE-B907-A2BF8514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108089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53760-844C-4E81-B11F-DA9F3002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4B270-1E00-4D57-88BB-CBB8B17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65F23-6896-44EF-80A8-2B0C8BF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시간이 있는 학습과 없는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D809C-C602-4B3D-A2B8-EE719767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강의와 예정시간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3442B-FDA4-4F37-908E-75B7B2A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강의는 저장된 원본 길이와 자격증별 배속을 사용합니다. 교재 등은 사용자가 입력한 개별 예정시간을 사용하며 강의 배속을 적용하지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3F558-B7EF-4285-9078-AEBDA9DE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시간이 없는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447F5-823B-420C-9333-4833E57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예정시간을 입력하지 않은 자료도 등록할 수 있습니다. 개수 기준으로 분배하고 임의의 시간을 만들거나 저장하지 않습니다. 미설정과 0분을 구분합니다.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5CE52-A0D3-4BC8-8402-46F7563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화면에 표시하는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B39E9-7B86-4CFE-9D9C-48B6E98A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마우스 툴팁에는 전체 제목과 개별 예정시간을 표시합니다. 날짜별 합계와 월간 상세 팝업의 예정시간에도 기존 데이터와 배속을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832123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30BD7-CF64-4193-B829-5B6B9551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A61A-9554-4C1F-8596-1AA0021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BB847-4AE8-4300-A6DD-D7854B0E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학습 가능시간과 휴식일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7E3B2-7880-4B6B-9A83-C3F42B026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c94dd75c94765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93927-4C42-4665-99D8-9676D70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매일 동일, 평일·주말, 요일별 시간 설정을 지원합니다. 자격증별로 학습 기간과 정기 휴식 요일을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특정 날짜는 별도 예외로 설정할 수 있습니다. 날짜 예외가 정기 휴식과 기본 시간보다 우선합니다. 자동 분배는 공부 불가능한 날짜와 0분 날짜를 제외합니다.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7C236-26A0-454B-BC46-D2847651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1758456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796A4-75D9-4ECD-8569-395781D9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891F-7D19-4C18-9FD6-DAD9FED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A9159-82CD-462E-9BA9-24859BD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자동 분배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6A14C-57D3-4992-B01C-82354D24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시간 기준과 개수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79D53-7019-4BB8-B7DF-5F04AA1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시간이 있는 항목은 가능시간을 기준으로, 시간이 없는 항목은 가능 날짜와 개수 한도를 기준으로 배치합니다. 두 유형을 같은 날짜에 배치할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8D112-16BC-4357-B47A-9119E162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분류 순서와 학습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60720-CBEB-4FD0-A29E-410D291A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순차 학습은 앞 분류의 일반 항목을 배치한 뒤 다음 분류로 넘어갑니다. 병행 학습은 하루 최대 두 분류를 사용합니다. 사용자가 정한 우선순위를 따릅니다.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F27AD-96CD-4D2B-B3CD-E4C2D4F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완료 기록과 목표 보호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618F0-D5A1-40C4-9DA2-4D7739E4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완료 항목은 다시 배치하지 않습니다. 이정표에 연결한 분류의 목표 충족 여부를 보여주고, 시험 직전 지정 항목은 별도로 우선 배치합니다.</a:t>
            </a:r>
          </a:p>
        </p:txBody>
      </p:sp>
    </p:spTree>
    <p:extLst>
      <p:ext uri="{BB962C8B-B14F-4D97-AF65-F5344CB8AC3E}">
        <p14:creationId xmlns:p14="http://schemas.microsoft.com/office/powerpoint/2010/main" val="8350214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FFAC2-29A3-4CAC-8827-E670EDE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8BAE9-099A-45F3-AF25-3F9FA126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D82E3-924F-4A83-9F47-87F2DB77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미리보기와 실제 적용의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DDF63-C4D7-4231-874A-8F0CD52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미리보기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85F9C-440F-4D2A-BEBA-129971A9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날짜별 항목, 시간·개수 요약, 분류 색상과 미배치 이유를 확인합니다. 계산을 실행하거나 미리보기를 닫는 것만으로 실제 배정 날짜는 바뀌지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01A25-7FD6-41F4-B8B1-14B5C2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명시적 적용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992F3-B319-4FFA-AABE-4C110E4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분배 적용을 누르면 미리보기에서 배치된 항목만 실제 일정에 반영합니다. 새 항목을 중복 생성하지 않고 기존 항목의 날짜를 갱신합니다.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FEBDB-0B58-4F3C-956B-18A3922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계산 이후 변경 감지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C33E7-8226-4EE4-83DF-3B31847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미리보기 이후 원본 학습 데이터나 계산 조건이 바뀌면 다시 계산하도록 안내합니다. 미배치 항목의 기존 날짜와 완료 기록은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001125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D06E4-5EEE-4D05-B902-7DCBC45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567B9-959D-4089-81F3-95E5323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8E52-52E2-426A-BD9F-43F7816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주간·월간 학습 계획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1837C-8A8A-40F9-901A-131755A67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c6e54b93b4b6b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8EEE1-CF56-420A-AA06-B6E5BE70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상단에서 강의 배속, 시험일, 남은 학습 가능시간과 학습량을 확인합니다. 분류별 완료 수와 전체 진행률을 함께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날짜별 카드의 체크박스로 완료를 기록하고, 드래그 또는 날짜 이동 메뉴로 배정 날짜를 조정합니다. 월간 날짜를 누르면 항목 수·완료 수·예정시간 합계를 확인할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9DD3B-C61E-41DD-9E93-375A35C9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1021288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53C3D-D26A-4825-9B38-7CED4B49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D0954-03AE-479C-85AD-69AFDF3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C4DD5-B1D2-4C4B-95BC-0A043C9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기기별 날짜 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F3DF3-38B7-4491-883B-2BDD4DD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PC: 7일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E5EA6-1302-4B43-8CB6-6DE713C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기존 사이드바와 콘텐츠 배치를 유지합니다. 저장된 달력 시작 요일에 맞춰 주간 학습 계획을 7일로 표시합니다. 월간 보기도 제공합니다.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CD2FC-8992-4DD6-90A9-9B61118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태블릿: 3일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42FB6-5306-4E04-B659-4D6C1E9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어제·오늘·내일을 표시하고 오늘을 가운데 둡니다. 오늘 보기에서는 날짜가 바뀌면 가운데 날짜도 바뀝니다. 계획 설정과 진행도는 위아래로 배치합니다.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E0BAB-0F4F-40D9-BE28-A75AE22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휴대폰: 하루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CD802-37BA-4AA0-9E26-6CCECE9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전체 PC 화면을 축소하지 않고 메뉴 서랍과 하루 학습 목록을 사용합니다. 이전·다음 기간과 오늘 이동을 제공합니다. 실제 Safari 터치 동작은 추가 확인 대상입니다.</a:t>
            </a:r>
          </a:p>
        </p:txBody>
      </p:sp>
    </p:spTree>
    <p:extLst>
      <p:ext uri="{BB962C8B-B14F-4D97-AF65-F5344CB8AC3E}">
        <p14:creationId xmlns:p14="http://schemas.microsoft.com/office/powerpoint/2010/main" val="1170491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B6007-83A2-4D5B-9579-87704283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46AF0-9818-4D14-9206-7120CAA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A8565-8C3C-4680-AAD7-D151990B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화면 설정과 일관된 날짜 표시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15847-EF7F-4BA2-B3B3-9C8D9CBEB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910837b0d4442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97F8B-9D08-4285-A2E3-80EB234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통합 설정창의 화면 메뉴에서 달력 시작 요일과 테마를 선택합니다. 요일 순서와 날짜 배치를 함께 바꾸며 일정의 실제 날짜는 변경하지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일요일 헤더만 빨간색으로 표시합니다. 오늘과 선택 날짜의 강조는 유지합니다. 화면 환경설정은 학습 저장소와 분리하여 새로고침 후에도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09B99-66BA-4DEB-A34F-ACC322EB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135906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826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54AF2-4072-4DFA-A1B5-263A531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FB9FF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2A6FB-84D0-476A-9E45-AB202EA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715A-87E4-4446-A662-CE1E208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5F2FA"/>
                </a:solidFill>
                <a:latin typeface="Malgun Gothic"/>
                <a:ea typeface="Malgun Gothic"/>
                <a:cs typeface="Malgun Gothic"/>
              </a:rPr>
              <a:t>라이트·다크·시스템 테마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06CD-FF5B-4069-AFAF-09EECE291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2aad4e8934a2b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8277D-FEE0-40EB-A8FA-0C2C2E3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라이트는 기존 흰색·연보라색 디자인을 유지합니다. 다크는 순수 검정 대신 차콜과 퍼플 그레이를 사용하고 학습 분류별 색상을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시스템 모드는 기기 설정을 따르고 변경을 감지합니다. CSS 색상 토큰으로 달력, 카드, 입력창, 설정과 확인 모달에 공통 적용합니다. 저장된 테마는 초기 화면 전에 적용합니다.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9C898-32FB-4F36-A33E-124FBDB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3CDDF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659804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724F9-01E3-4387-9D31-75F4DE18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4A070-5C18-4981-9B13-7AEE961D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3C4A-A82E-481E-B86A-E021DCEA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인증과 계정 관리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5D7E3-F886-48CD-ADD1-F03FB5CC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회원가입과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D6E71-8243-4BE7-94FE-6ECB039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Supabase 이메일 인증을 사용합니다. 로그인과 회원가입은 같은 모달 안에서 전환합니다. 비밀번호는 8자 이상이며 확인값 일치를 검사합니다.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8F82A-7ADD-4C36-8405-A1DF581A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비밀번호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9D5CD-8604-4484-B4D7-F08F477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별도 모달에서 현재 비밀번호로 재인증한 후 새 비밀번호를 변경합니다. 입력값을 학습 저장소에 남기지 않으며 중복 제출을 막습니다.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F50EF-381F-43AE-88F3-55528A59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실제 상태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5F5E9-A14A-43F5-8B2C-2841DBC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계정 기본 화면은 이메일과 실제 동기화 상태를 표시합니다. 계정 관리에서는 비밀번호 변경, 로컬 기록 가져오기, 재시도와 계정 초기화를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9175804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C3B50-8EBA-474D-84F2-DA8B85FA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35EC9-451E-4EDE-A4D9-B45ACA6E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1612-FDA0-4EB7-A583-83FB982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비로그인 기록과 계정 기록의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A78E2-546B-4157-910B-A7793BA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비로그인 저장소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6BA18-426D-49C8-8E6C-2D4EDC2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현재 브라우저의 localStorage에 학습 기록을 저장합니다. 다른 기기와 자동 공유되지 않습니다. 로그아웃하면 기존 비로그인 기록으로 돌아옵니다.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7D730-3344-4292-BC9B-1A948C7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계정 저장소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1A335-9CAD-4B63-BB2A-4986469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사용자 ID별 캐시와 Supabase snapshot을 사용합니다. 로그인만으로 비로그인 기록을 서버에 자동 업로드하거나 기존 계정을 덮어쓰지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18DD5-566F-479D-83C2-DA2418D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로컬 기록 가져오기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B3D45-6780-46CB-A794-C8EAA2C7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사용자 확인 후 기록을 계정으로 복사합니다. 실제 계정 데이터가 있으면 중단하고, 초기화된 빈 snapshot은 revision이 있어도 허용합니다. 원본 로컬 기록은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772565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36191-E9EB-4DC9-9C1C-858C500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03006-2895-4E6F-B7EF-266BC808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D204-B97B-4778-A9F0-28234FD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동기화와 충돌 보호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8BAE6-3895-44EE-B4FD-17FE0DA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변경과 서버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43FAC-1ECB-434A-A88A-164093F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계정 변경은 캐시에 먼저 저장합니다. 서버 저장 시 예상 revision을 비교하고 현재 사용자 ID에 연결된 데이터만 처리합니다.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291E5-AD07-4D48-B9A2-B8F4520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네트워크 오류와 동시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5CA67-2546-4094-98A7-33B2928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통신 실패 시 저장 대기 기록을 보존합니다. 다른 기기의 갱신과 충돌하면 자동 덮어쓰기를 중단합니다. 재시도와 서버 기록 불러오기 등 복구 동작을 제공합니다.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A9FB3-83B1-4202-B231-5C0D024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검증의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6051-4766-4166-95E4-00988A0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가상 저장소와 모의 서버로 사용자 분리·revision 충돌·실패 처리를 검사했습니다. 실제 여러 기기에서의 계정 동기화는 사용 환경에서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933254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878F1-CFE3-4DD7-BE76-438BEB0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CEEE-DD18-4DC3-BDBD-A52F454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2EE69-254C-455A-943A-AB693583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JSON 백업과 복원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7B842-4CF4-41DF-9775-882C033AB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1e9c012aa4a2b"/>
          <a:stretch xmlns:a="http://schemas.openxmlformats.org/drawingml/2006/main"/>
        </p:blipFill>
        <p:spPr>
          <a:xfrm xmlns:a="http://schemas.openxmlformats.org/drawingml/2006/main">
            <a:off x="609600" y="2192536"/>
            <a:ext cx="9239250" cy="51970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7E2B9-7D3E-4A3A-9DB0-10821952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09800"/>
            <a:ext cx="4381500" cy="508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데이터 관리에서 JSON 백업을 다운로드하고 가져올 파일을 선택합니다. 파일 형식·연결 관계·날짜·완료 상태 등을 검증한 뒤 요약과 자격증별 미리보기를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명시적 동의와 실행 확인 후 기존 학습 데이터를 교체합니다. 병합 기능은 아닙니다. 동시 변경 시 중단하고 저장 실패 시 이전 값을 복원하려 시도합니다. 인증 토큰은 백업하지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75E36-6A77-4BBB-8B69-FC26C13C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실제 사용 화면 · 1920 × 1080 캡처</a:t>
            </a:r>
          </a:p>
        </p:txBody>
      </p:sp>
    </p:spTree>
    <p:extLst>
      <p:ext uri="{BB962C8B-B14F-4D97-AF65-F5344CB8AC3E}">
        <p14:creationId xmlns:p14="http://schemas.microsoft.com/office/powerpoint/2010/main" val="20376777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27265-1198-4000-A33C-FA19A48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F3B5A-E0E0-4413-B31B-72DC474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563C2-2F0E-4FBD-A62C-148176FC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초기화의 범위와 안전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0AE5F-37BE-4DBD-8ABB-56604AF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로컬 데이터 초기화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0EC2-EF3D-4E14-A281-8CAC1166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비로그인 학습 키 7개만 삭제합니다. 계정별 캐시, 클라우드 데이터, 인증 정보와 다른 앱의 저장값은 삭제하지 않습니다. localStorage 전체 삭제는 사용하지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F6906-92A6-4307-852C-F519FC3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계정 데이터 초기화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4DDF3-8605-446B-B760-E4680BE9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현재 사용자의 snapshot을 빈 상태로 저장합니다. Auth 계정과 비로그인 기록은 유지합니다. RPC의 revision 비교와 서버 결과 확인 후 화면·캐시를 갱신합니다.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0359B-B6FF-4E1F-9339-741498CD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확인과 실패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A3A11-926E-4002-9DDA-FE3ECFF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동의 체크 전에는 실행할 수 없고 중복 제출을 막습니다. 서버 실패나 충돌을 완료로 표시하지 않습니다. 실제 사용자 데이터를 삭제하는 검증은 진행하지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9783485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136F2-82CA-4A24-9C08-7562035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03B35-A9D9-42E9-811F-E004432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D69C0-AB23-41E4-91E3-A4152EB3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기술 구성과 검증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1FBA7-28FC-485B-AA2F-C281DB9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구현 기술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DF594-AC62-488C-8788-9807483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HTML·CSS·JavaScript ES Modules로 화면과 계산 로직을 구성했습니다. Node.js 기본 테스트 러너, 정적 빌드와 Vercel 배포를 사용합니다. 인증과 계정 저장은 Supabase가 담당합니다.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F3D9-6D72-48BB-84AE-EC7AA0A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역할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84D22-38E7-4AB2-9A10-954D349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달력·학습 항목·분배 계산·백업·계정 저장소·통합 설정을 모듈로 분리했습니다. 화면 환경설정은 학습 동기화와 분리하며 서버는 RLS와 revision으로 계정 데이터를 보호합니다.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454E6-8DAB-4B38-BCD7-49AB231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2026년 10월 11일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DDD24-2061-4FFE-A58B-E927401C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자동 테스트 247개와 정적 빌드가 통과했습니다. 실제 Safari 키보드·드래그, 다기기 동기화와 실서버 초기화는 추가 검증 대상으로 명시합니다.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178555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0DC7C-F4D5-48F4-8F80-52534CF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5C49F-BA1C-4F01-849C-47B2F4F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333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B87FD-8858-4A1B-9C62-EBC31083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2631"/>
                </a:solidFill>
                <a:latin typeface="Malgun Gothic"/>
                <a:ea typeface="Malgun Gothic"/>
                <a:cs typeface="Malgun Gothic"/>
              </a:rPr>
              <a:t>현재 결과와 다음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D16A-88AB-47A9-BEBC-F6F42AB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완성한 핵심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E7F30-F9FD-4126-9FC5-2906F79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자료 등록, 가능시간 설정, 분배 미리보기, 일정 적용, 완료 기록과 백업을 연결했습니다. 계정 로그인과 동기화로 여러 장소에서 기록을 이어갈 수 있도록 구성했습니다.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DC1A8-5B48-4D80-AC76-3E3BBD9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사용하며 확인할 부분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3DA46-BC56-4058-B318-99F17766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집과 학원에서 같은 계정의 기록이 이어지는지 확인하고 iPhone·iPad Safari의 터치·키보드 동작을 점검합니다. 터치 탭 툴팁은 후속 개선 항목입니다.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1B2C1-16CC-4ADD-BB5C-CEB293C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0C3"/>
                </a:solidFill>
                <a:latin typeface="Malgun Gothic"/>
                <a:ea typeface="Malgun Gothic"/>
                <a:cs typeface="Malgun Gothic"/>
              </a:rPr>
              <a:t>프로젝트 링크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B9296-F0D0-4A8C-919C-72BE587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05500"/>
            <a:ext cx="9525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서비스: https://my--pace.vercel.app</a:t>
            </a:r>
          </a:p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저장소: https://github.com/rykim1217/ALEPH</a:t>
            </a:r>
          </a:p>
          <a:p xmlns:a="http://schemas.openxmlformats.org/drawingml/2006/main">
            <a:pPr>
              <a:def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96473"/>
                </a:solidFill>
                <a:latin typeface="Malgun Gothic"/>
                <a:ea typeface="Malgun Gothic"/>
                <a:cs typeface="Malgun Gothic"/>
              </a:rPr>
              <a:t>소스 경로: projects/PACE</a:t>
            </a:r>
          </a:p>
        </p:txBody>
      </p:sp>
    </p:spTree>
    <p:extLst>
      <p:ext uri="{BB962C8B-B14F-4D97-AF65-F5344CB8AC3E}">
        <p14:creationId xmlns:p14="http://schemas.microsoft.com/office/powerpoint/2010/main" val="1572249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2026-10-11T13:04:09.4830000Z</dcterms:created>
  <dcterms:modified xsi:type="dcterms:W3CDTF">2026-10-11T13:04:09.4830000Z</dcterms:modified>
</coreProperties>
</file>